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ccbcc3734941b3" /><Relationship Type="http://schemas.openxmlformats.org/officeDocument/2006/relationships/extended-properties" Target="/docProps/app.xml" Id="R2a0b01749da54cbb" /><Relationship Type="http://schemas.openxmlformats.org/officeDocument/2006/relationships/officeDocument" Target="/ppt/presentation.xml" Id="Rfea70add313b47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131820e55c4001"/>
  </p:sldMasterIdLst>
  <p:notesMasterIdLst>
    <p:notesMasterId xmlns:r="http://schemas.openxmlformats.org/officeDocument/2006/relationships" r:id="R9ffb71edac0641ec"/>
  </p:notesMasterIdLst>
  <p:sldIdLst>
    <p:sldId xmlns:r="http://schemas.openxmlformats.org/officeDocument/2006/relationships" id="256" r:id="R827708d827f94fa1"/>
    <p:sldId xmlns:r="http://schemas.openxmlformats.org/officeDocument/2006/relationships" id="257" r:id="Rfab5493f363942b4"/>
    <p:sldId xmlns:r="http://schemas.openxmlformats.org/officeDocument/2006/relationships" id="258" r:id="Rf9199fe95e474399"/>
    <p:sldId xmlns:r="http://schemas.openxmlformats.org/officeDocument/2006/relationships" id="259" r:id="Re2f7a23683ea4057"/>
    <p:sldId xmlns:r="http://schemas.openxmlformats.org/officeDocument/2006/relationships" id="260" r:id="R1cf5454791cf4658"/>
    <p:sldId xmlns:r="http://schemas.openxmlformats.org/officeDocument/2006/relationships" id="261" r:id="R57b43470469d41b1"/>
    <p:sldId xmlns:r="http://schemas.openxmlformats.org/officeDocument/2006/relationships" id="262" r:id="R0c075c98c7824c34"/>
    <p:sldId xmlns:r="http://schemas.openxmlformats.org/officeDocument/2006/relationships" id="263" r:id="R8393f0ee764c4cb7"/>
    <p:sldId xmlns:r="http://schemas.openxmlformats.org/officeDocument/2006/relationships" id="264" r:id="Ree0b54cdb5474783"/>
    <p:sldId xmlns:r="http://schemas.openxmlformats.org/officeDocument/2006/relationships" id="265" r:id="Re32d7deed98644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cf09c8c6fe4ba9" /><Relationship Type="http://schemas.openxmlformats.org/officeDocument/2006/relationships/slideMaster" Target="/ppt/slideMasters/slideMaster1.xml" Id="R7f131820e55c4001" /><Relationship Type="http://schemas.openxmlformats.org/officeDocument/2006/relationships/notesMaster" Target="/ppt/notesMasters/notesMaster1.xml" Id="R9ffb71edac0641ec" /><Relationship Type="http://schemas.openxmlformats.org/officeDocument/2006/relationships/presProps" Target="/ppt/presProps.xml" Id="R547844ab2a36496c" /><Relationship Type="http://schemas.openxmlformats.org/officeDocument/2006/relationships/tableStyles" Target="/ppt/tableStyles.xml" Id="R76161df665af4a41" /><Relationship Type="http://schemas.openxmlformats.org/officeDocument/2006/relationships/slide" Target="/ppt/slides/slide1.xml" Id="R827708d827f94fa1" /><Relationship Type="http://schemas.openxmlformats.org/officeDocument/2006/relationships/slide" Target="/ppt/slides/slide2.xml" Id="Rfab5493f363942b4" /><Relationship Type="http://schemas.openxmlformats.org/officeDocument/2006/relationships/slide" Target="/ppt/slides/slide3.xml" Id="Rf9199fe95e474399" /><Relationship Type="http://schemas.openxmlformats.org/officeDocument/2006/relationships/slide" Target="/ppt/slides/slide4.xml" Id="Re2f7a23683ea4057" /><Relationship Type="http://schemas.openxmlformats.org/officeDocument/2006/relationships/slide" Target="/ppt/slides/slide5.xml" Id="R1cf5454791cf4658" /><Relationship Type="http://schemas.openxmlformats.org/officeDocument/2006/relationships/slide" Target="/ppt/slides/slide6.xml" Id="R57b43470469d41b1" /><Relationship Type="http://schemas.openxmlformats.org/officeDocument/2006/relationships/slide" Target="/ppt/slides/slide7.xml" Id="R0c075c98c7824c34" /><Relationship Type="http://schemas.openxmlformats.org/officeDocument/2006/relationships/slide" Target="/ppt/slides/slide8.xml" Id="R8393f0ee764c4cb7" /><Relationship Type="http://schemas.openxmlformats.org/officeDocument/2006/relationships/slide" Target="/ppt/slides/slide9.xml" Id="Ree0b54cdb5474783" /><Relationship Type="http://schemas.openxmlformats.org/officeDocument/2006/relationships/slide" Target="/ppt/slides/slide10.xml" Id="Re32d7deed98644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48bd093c7440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a9c5b0d22f402f" /><Relationship Type="http://schemas.openxmlformats.org/officeDocument/2006/relationships/notesMaster" Target="/ppt/notesMasters/notesMaster1.xml" Id="R72de9b115c5942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383a5bc2fe45bb" /><Relationship Type="http://schemas.openxmlformats.org/officeDocument/2006/relationships/notesMaster" Target="/ppt/notesMasters/notesMaster1.xml" Id="Ra38e41ca85c441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6cf250332f4add" /><Relationship Type="http://schemas.openxmlformats.org/officeDocument/2006/relationships/notesMaster" Target="/ppt/notesMasters/notesMaster1.xml" Id="R7ba16eeb7e9a40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9b8407f0664fd4" /><Relationship Type="http://schemas.openxmlformats.org/officeDocument/2006/relationships/notesMaster" Target="/ppt/notesMasters/notesMaster1.xml" Id="R0051c1d758cf4e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c3c82982e446a9" /><Relationship Type="http://schemas.openxmlformats.org/officeDocument/2006/relationships/notesMaster" Target="/ppt/notesMasters/notesMaster1.xml" Id="R47820ddd6cc343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8be71902fd45c3" /><Relationship Type="http://schemas.openxmlformats.org/officeDocument/2006/relationships/notesMaster" Target="/ppt/notesMasters/notesMaster1.xml" Id="R2152be91cf3d47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cce38e92ef4e24" /><Relationship Type="http://schemas.openxmlformats.org/officeDocument/2006/relationships/notesMaster" Target="/ppt/notesMasters/notesMaster1.xml" Id="R06841377379a4e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f50c36953045ee" /><Relationship Type="http://schemas.openxmlformats.org/officeDocument/2006/relationships/notesMaster" Target="/ppt/notesMasters/notesMaster1.xml" Id="Rad31ce0fb81e4c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178f3ff91b47ff" /><Relationship Type="http://schemas.openxmlformats.org/officeDocument/2006/relationships/notesMaster" Target="/ppt/notesMasters/notesMaster1.xml" Id="R03824246fd8947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c6599c6bb64d2d" /><Relationship Type="http://schemas.openxmlformats.org/officeDocument/2006/relationships/notesMaster" Target="/ppt/notesMasters/notesMaster1.xml" Id="Ra9bad7295de443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25 วินาที</a:t>
            </a:r>
          </a:p>
          <a:p xmlns:a="http://schemas.openxmlformats.org/drawingml/2006/main">
            <a:r>
              <a:t>บ้านศาลาหุมมีอาชีพประมงกระชัง เอกสารพื้นที่รายงานไฟไม่เสถียร ทีมเราจึงเสนอ PowerGuard เพื่อเริ่มจากตรวจไฟและโหลดจริง แล้วเลือกว่าควรซ่อม ใช้ UPS หรือสำรองเฉพาะจุด ก่อนวัดผล วันนี้ที่สาธิตได้คือต้นแบบเว็บไซต์จำลองครับ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เอกสารเก็บข้อมูลวันที่ 16 กรกฎาคม 2569 ระบุเรื่องไฟตกเชิงคุณภาพ ยังไม่มีข้อมูลบอกว่าสายส่ง จุดต่อ หรือโหลดชนิดใดเป็นสาเหตุ เป้าหมายจึงเป็นการสร้างหลักฐานให้ตัดสินใจ ไม่ถือว่าภาพกระชังยืนยันปัญหาไฟ ฮาร์ดแวร์ของทีมยังไม่มีรายงานทดลองที่ตรวจย้อนกลับได้ รูปพื้นที่มาจากแพ็กผู้ใช้ ส่วนตำแหน่งในฉากอิงความสัมพันธ์ของภาพและติดป้ายเสนอ ชื่อบทบาทยึดเอกสารทีม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ติดตั้งจริงแล้วหรือยัง</a:t>
            </a:r>
          </a:p>
          <a:p xmlns:a="http://schemas.openxmlformats.org/drawingml/2006/main">
            <a:r>
              <a:t>คำตอบ: ยังเป็นต้นแบบเว็บจำลอง การวัดและการติดตั้งต้องได้รับความยินยอมและมีหลักฐานเพิ่ม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Data Pack ภาคใต้: /Users/nokia/Downloads/4.สรุปรายละเอียดพื้นที่โจทย์ภาคใต้ หน้า 6</a:t>
            </a:r>
          </a:p>
          <a:p xmlns:a="http://schemas.openxmlformats.org/drawingml/2006/main">
            <a:r>
              <a:t>https://peephatz-dev.github.io/community-field-notes/presentation-guide.html</a:t>
            </a:r>
          </a:p>
          <a:p xmlns:a="http://schemas.openxmlformats.org/drawingml/2006/main">
            <a:r>
              <a:t>team-work-summary.pdf หน้า 1–8</a:t>
            </a:r>
          </a:p>
          <a:p xmlns:a="http://schemas.openxmlformats.org/drawingml/2006/main">
            <a:r>
              <a:t>community-images/manifest.json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35 วินาที</a:t>
            </a:r>
          </a:p>
          <a:p xmlns:a="http://schemas.openxmlformats.org/drawingml/2006/main">
            <a:r>
              <a:t>ตัวเลขในเอกสารคือประมาณห้าสิบถึงเจ็ดสิบครัวเรือน และผู้ให้ข้อมูลเกี่ยวข้องกับกระชังมากกว่าสี่สิบห้า ตัวเลขนี้ช่วยเห็นบริบท แต่ยังบอกไม่ได้ว่าทุกบ้านเจอไฟตก หรือทุกกระชังต้องมีไฟสำรอง เราต้องวัดแรงดัน ระยะเวลา และระบุเครื่องที่ได้รับผลก่อน ส่วนปัญหาน้ำและตะกอนต้องแยกศึกษาอีกด้านครับ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แหล่งหน้า 6 กล่าวถึงไฟไม่เสถียรและโซลาร์บางครัวเรือนไม่เพียงพอกับระบบอื่น ส่วนกระชังมากกว่า 45 อยู่ในขอบเขตผู้ให้ข้อมูลหน้า 1 ห้ามคูณเป็นจำนวนผู้ใช้หรือประมาณรายได้ที่เสียหาย ภาพแสดงการทำงานกับเรือและกระชังเท่านั้น ไม่แสดงเหตุไฟดับหรือผลต่อปลา ผู้มีส่วนร่วมต้องรวมผู้ดูแลและคนที่รับภาระค่าใช้จ่าย ไม่เลือกจากผู้โพสต์ออนไลน์เพียงกลุ่มเดียว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ไฟตกทำให้ปลาตายเท่าไร</a:t>
            </a:r>
          </a:p>
          <a:p xmlns:a="http://schemas.openxmlformats.org/drawingml/2006/main">
            <a:r>
              <a:t>คำตอบ: ยังไม่มีหลักฐานเชื่อมเหตุไฟกับความเสียหายหรือการตายของปลา จึงไม่ใส่ตัวเลขดังกล่าว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Data Pack ภาคใต้: /Users/nokia/Downloads/4.สรุปรายละเอียดพื้นที่โจทย์ภาคใต้ หน้า 1, 3–7</a:t>
            </a:r>
          </a:p>
          <a:p xmlns:a="http://schemas.openxmlformats.org/drawingml/2006/main">
            <a:r>
              <a:t>community-images/salahum-03.webp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30 วินาที</a:t>
            </a:r>
          </a:p>
          <a:p xmlns:a="http://schemas.openxmlformats.org/drawingml/2006/main">
            <a:r>
              <a:t>เรายังไม่ทราบวิธีรับเหตุเดิมครบครับ ต้องถามว่าใครรู้เหตุ เครื่องใดหยุด และใครเป็นคนตัดสินใจซ่อมหรือซื้อแบต สิ่งที่ทีมเสนอคือเก็บหลักฐาน เลือกวิธีแก้ และตรวจผลหลังทำ ข้อมูลตรงนี้จะช่วยให้ไม่ลงทุนเกินปัญหาที่มีจริง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ช่องก่อน ระหว่าง และหลังบนสไลด์เป็นคำถามสัมภาษณ์ ไม่ใช่คำบรรยายพฤติกรรมชุมชนที่ทีมไปสังเกตแล้ว ควรขอเหตุการณ์ล่าสุดและถามบันทึกที่ตรวจได้ เลือกผู้ให้ข้อมูลหลายบทบาท เก็บขอบเขตเวลาของความทรงจำ และชี้ช่องข้อมูลหาย การวัดอาจพบว่าซ่อมจุดต่อหรือใช้ UPS ที่มีขายเหมาะกว่า จึงต้องเปิดทางเลือกนั้นไว้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ทำไมไม่ซื้อแบตเลย</a:t>
            </a:r>
          </a:p>
          <a:p xmlns:a="http://schemas.openxmlformats.org/drawingml/2006/main">
            <a:r>
              <a:t>คำตอบ: ยังไม่รู้โหลด ชั่วโมงที่จำเป็น สาเหตุ และต้นทุนตลอดอายุ การวัดอาจทำให้เลือกวิธีที่เล็กกว่าได้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Data Pack ภาคใต้: /Users/nokia/Downloads/4.สรุปรายละเอียดพื้นที่โจทย์ภาคใต้ หน้า 6</a:t>
            </a:r>
          </a:p>
          <a:p xmlns:a="http://schemas.openxmlformats.org/drawingml/2006/main">
            <a:r>
              <a:t>https://peephatz-dev.github.io/community-field-notes/presentation-guide.html#decision-board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40 วินาที</a:t>
            </a:r>
          </a:p>
          <a:p xmlns:a="http://schemas.openxmlformats.org/drawingml/2006/main">
            <a:r>
              <a:t>เราแยกสองชั้นครับ ชั้นพลังงานเป็นแนวคิด DC ที่มีการป้องกัน จัดลำดับศูนย์ดูแล จุดกระชัง เครื่องจำเป็น และเครื่องที่พักได้ อีกชั้นส่งข้อมูลและแจ้งเตือนกลับมาที่ศูนย์ ในเดโมเมื่อไฟดับจะพักโหลดทั่วไปก่อน แล้วคงเครื่องสำคัญตามพลังงานที่เหลือ ค่าโหลดบนจอเป็นสมมติทั้งหมด และยังไม่ได้สั่งตัดไฟบ้านจริง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P0/P1/P2/P3 ใช้ 30/120/80/260 W ตาม model.ts เท่านั้น ไม่ใช่ nameplate ที่สำรวจมา แบตในฉาก 1.2 kWh เป็นการตั้งค่าเพื่อสาธิต นโยบายคง P0/P1 ก่อน P2/P3 ไม่ใช่ข้อเสนอจัดอันดับคนในชุมชน ต้องร่วมเลือกประเภทโหลดจริง เส้นทึบสีส้มใช้สื่อ power และเส้นประสีน้ำเงินใช้สื่อ data เพื่อไม่ให้เข้าใจว่า telemetry wire จ่ายกำลังได้ ฟิวส์ BMS driver และ isolation ยังไม่ระบุรุ่นพร้อมสร้าง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วงจรนี้ต่อกับไฟบ้านได้ไหม</a:t>
            </a:r>
          </a:p>
          <a:p xmlns:a="http://schemas.openxmlformats.org/drawingml/2006/main">
            <a:r>
              <a:t>คำตอบ: ยังไม่ได้ ต้องออกแบบพิกัด การแยกวงจร และผ่านผู้มีคุณสมบัติ ไม่มีเว็บควบคุม mains 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team-work-summary.pdf หน้า 1–5</a:t>
            </a:r>
          </a:p>
          <a:p xmlns:a="http://schemas.openxmlformats.org/drawingml/2006/main">
            <a:r>
              <a:t>energy-platform-app/src/lib/model.ts</a:t>
            </a:r>
          </a:p>
          <a:p xmlns:a="http://schemas.openxmlformats.org/drawingml/2006/main">
            <a:r>
              <a:t>energy-platform-app/src/lib/circuit.ts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35 วินาที</a:t>
            </a:r>
          </a:p>
          <a:p xmlns:a="http://schemas.openxmlformats.org/drawingml/2006/main">
            <a:r>
              <a:t>เมื่อกดเหตุไฟดับ ระบบจำลองจะบันทึกแรงดันและสถานะโหลด ใช้ไฟสำรองเมื่อพลังงานพอ และแจ้งผู้ดูแล พร้อมเก็บประวัติครับ แต่ถ้าโหนดไม่ส่งข้อมูล เราแสดงเป็นการสื่อสารขาด ไม่สรุปว่าไฟดับ พอไฟกลับจะค่อยคืนโหลดตามลำดับ การรับทราบยังเป็นบันทึกในเครื่อง ไม่ใช่ส่งให้หน่วยงานแล้ว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การสำรองและพักโหลดในแอปเกิดจาก transition ของ simulator เดียวกัน ไม่ใช่ระบบกฎใหม่แยกขาดจากฉาก ไม่มีการวัดเวลาสับเปลี่ยนจริง การคืนระบบต้องเล่นเวลาเพื่อเดิน P0/P1 ต่อด้วย P2 และ P3 ส่วน offline ไม่ได้ถอดโหลดทางกายภาพออกจากการคำนวณ ข้อมูล fault ต้องแสดง unavailable และไม่แต่งค่าน้ำใหม่ เสียงต้องให้ผู้ใช้เปิดก่อน การแจ้งเตือนมี dedup และ acknowledgement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ถ้า 4G ขาดจะรู้ว่าไฟดับได้อย่างไร</a:t>
            </a:r>
          </a:p>
          <a:p xmlns:a="http://schemas.openxmlformats.org/drawingml/2006/main">
            <a:r>
              <a:t>คำตอบ: ยังยืนยันไม่ได้จาก offline อย่างเดียว ต้องใช้แหล่งวัดไฟและ last_seen ที่เชื่อถือได้ รวมทั้งตรวจหน้างาน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energy-platform-app/src/store/simulator.ts</a:t>
            </a:r>
          </a:p>
          <a:p xmlns:a="http://schemas.openxmlformats.org/drawingml/2006/main">
            <a:r>
              <a:t>energy-platform-app/src/lib/powerguard-model.ts</a:t>
            </a:r>
          </a:p>
          <a:p xmlns:a="http://schemas.openxmlformats.org/drawingml/2006/main">
            <a:r>
              <a:t>energy-platform-app/test/simulator.test.mjs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35 วินาที</a:t>
            </a:r>
          </a:p>
          <a:p xmlns:a="http://schemas.openxmlformats.org/drawingml/2006/main">
            <a:r>
              <a:t>ส่วนที่จะทำจริงต้องแยกวัดตรงกับค่าคำนวณครับ แรงดัน กระแส และอุณหภูมิต้องมีเซนเซอร์พร้อมสอบเทียบ ส่วนเปอร์เซ็นต์แบตและเวลาสำรองต้องเทียบผลจริง ตอนนี้ข้อมูลทั้งหมดในเว็บเป็นจำลอง เรายังไม่มีเซนเซอร์ DO และไม่มี gateway สด ภาพวงจรนี้ช่วยอธิบายความสัมพันธ์ ยังไม่ใช่แบบพร้อมประกอบ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payload เป็น schema ที่เสนอเพื่อคุยกับทีมไอทีและวงจร ไม่ใช่หลักฐานว่ามีอุปกรณ์ส่งข้อความจริง ค่า SoC ปัจจุบันเป็นแบบจำลอง energy integration ไม่ใช่ fuel gauge ที่สอบเทียบแล้ว ต้องเลือก V/I monitor ช่วงวัด isolation reference และเวลาสุ่มก่อน ค่า salinity สังเคราะห์ไม่อาจคำนวณจากสีภาพ satellite ความปลอดภัยต้องรวม rating สาย ฟิวส์ BMS ขั้วต่อ ตู้กับสภาพชื้น/เกลือ และวิธีหยุดทดลอง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ทำไมไม่มี DO</a:t>
            </a:r>
          </a:p>
          <a:p xmlns:a="http://schemas.openxmlformats.org/drawingml/2006/main">
            <a:r>
              <a:t>คำตอบ: ไม่มีเซนเซอร์และหลักฐานสอบเทียบ จึงไม่แสดงเป็นการวัดหรือแจ้งภัย 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energy-platform-app/src/lib/circuit.ts</a:t>
            </a:r>
          </a:p>
          <a:p xmlns:a="http://schemas.openxmlformats.org/drawingml/2006/main">
            <a:r>
              <a:t>energy-platform-app/src/lib/model.ts</a:t>
            </a:r>
          </a:p>
          <a:p xmlns:a="http://schemas.openxmlformats.org/drawingml/2006/main">
            <a:r>
              <a:t>energy-platform-app/src/components/CircuitLab.tsx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50 วินาที</a:t>
            </a:r>
          </a:p>
          <a:p xmlns:a="http://schemas.openxmlformats.org/drawingml/2006/main">
            <a:r>
              <a:t>ต่อไปเป็นเดโมประมาณสี่สิบห้าวินาทีครับ ผมเลือกจุดกระชัง ลองไฟตกแล้วไฟดับ ดูแหล่งจ่ายเปลี่ยนเป็นสำรองและเครื่องทั่วไปพัก เปิดแจ้งเตือน รับทราบ จากนั้นคืนไฟและเล่นเวลาให้โหลดกลับตามลำดับ ภาพบนสไลด์มาจากเว็บที่รันจริง แต่ทุกค่ายังเป็นข้อมูลทดลองครับ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ลำดับ live demo: 0–7 วินาทีเปิดหน้า root และเลือกจุดกระชัง 7–15 ลองไฟตก 15–25 ลองไฟดับและชี้ P3 พัก 25–35 เปิดแจ้งเตือน/รับทราบ 35–45 คืนไฟและเล่นเวลา หากเครื่อง WebGL ไม่พร้อม ให้เปิดผัง 2D และใช้ภาพ actual capture นี้สำรอง ห้ามใช้ screenshot แทนหลักฐาน live telemetry รุ่นใหม่อยู่ feature branch ไม่ใช่รุ่นสาธารณะที่ deploy แล้ว URL production สาธารณะยังเป็นฐานรุ่นก่อนรอบนี้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ภาพนี้ทำ mockup หรือมาจากระบบจริง</a:t>
            </a:r>
          </a:p>
          <a:p xmlns:a="http://schemas.openxmlformats.org/drawingml/2006/main">
            <a:r>
              <a:t>คำตอบ: เป็นภาพจับจากแอปที่ทำงานจริงบน production export ในเครื่อง ส่วนค่าข้อมูลมาจาก simulator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deliverables/web-ui/screenshots/</a:t>
            </a:r>
          </a:p>
          <a:p xmlns:a="http://schemas.openxmlformats.org/drawingml/2006/main">
            <a:r>
              <a:t>http://127.0.0.1:3013/community-field-notes/energy-platform/</a:t>
            </a:r>
          </a:p>
          <a:p xmlns:a="http://schemas.openxmlformats.org/drawingml/2006/main">
            <a:r>
              <a:t>https://peephatz-dev.github.io/community-field-notes/energy-platform/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35 วินาที</a:t>
            </a:r>
          </a:p>
          <a:p xmlns:a="http://schemas.openxmlformats.org/drawingml/2006/main">
            <a:r>
              <a:t>สิ่งที่ยืนยันได้คือซอฟต์แวร์ครับ ทดสอบอัตโนมัติผ่านห้าสิบสองข้อ และเปิดดูฉาก การเลือกจุด แจ้งเตือน และวงจรในเบราว์เซอร์แล้ว แต่คอลัมน์ฮาร์ดแวร์ยังไม่มีหลักฐาน และยังไม่มีผลทดลองกับชาวบ้าน เราจึงระบุความพร้อมเป็นแนวคิดและวิเคราะห์ พร้อมต้นแบบเว็บจำลอง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ผล test 52/52 วันที่ 15 ต.ค. 2569 ครอบคลุม model, circuit graph, site geometry, water model, scenario state, powerguard assets/audio/notification/planner และ incident journey/audience modes Typecheck และ production build/export ผ่าน สิ่งนี้ไม่ยืนยัน runtime จริงของแบต relay response, IP rating, uptime, ค่าไฟลดลง หรือ adoption ต้องเก็บผล bench test และ user trial เพิ่มก่อนยกระดับความพร้อม เกณฑ์ระดับผลงานยึดสิ่งที่ทำ ไม่ยึดภาพ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ทดสอบกับกลุ่มตัวอย่างหรือยัง</a:t>
            </a:r>
          </a:p>
          <a:p xmlns:a="http://schemas.openxmlformats.org/drawingml/2006/main">
            <a:r>
              <a:t>คำตอบ: ยังไม่พบหลักฐานที่ยืนยัน จึงไม่ใช้สถานะ prototype tested with users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energy-platform-app/test/</a:t>
            </a:r>
          </a:p>
          <a:p xmlns:a="http://schemas.openxmlformats.org/drawingml/2006/main">
            <a:r>
              <a:t>deliverables/web-ui/screenshots/</a:t>
            </a:r>
          </a:p>
          <a:p xmlns:a="http://schemas.openxmlformats.org/drawingml/2006/main">
            <a:r>
              <a:t>deliverables/QA_AND_LIMITATIONS.md</a:t>
            </a:r>
          </a:p>
          <a:p xmlns:a="http://schemas.openxmlformats.org/drawingml/2006/main">
            <a:r>
              <a:t>https://peephatz-dev.github.io/community-field-notes/presentation-guide.html#slides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40 วินาที</a:t>
            </a:r>
          </a:p>
          <a:p xmlns:a="http://schemas.openxmlformats.org/drawingml/2006/main">
            <a:r>
              <a:t>เราจะเทียบสี่ทางเลือก ทั้งการตรวจระบบกับการไฟฟ้า UPS สำเร็จรูป สำรองเฉพาะโหลด และโซลาร์ร่วมแบตเมื่อคุ้มครับ ตัวอย่างโหลดหนึ่งร้อยห้าสิบวัตต์สองชั่วโมง ภายใต้ประสิทธิภาพและส่วนที่ใช้แบตได้แปดสิบเปอร์เซ็นต์ ต้องประมาณสี่ร้อยหกสิบเก้าวัตต์ชั่วโมง แต่ยังไม่ใช่รุ่นหรือราคา จุดที่ทีมเสนอคือช่วยเลือกและตรวจผล ส่วนงานติดตามน้ำมีเทคโนโลยีไทยทำอยู่แล้ว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ยังไม่มีใบเสนอราคาหรือ BOM ยืนยัน จึงเว้นต้นทุนเป็น TBD ไม่แต่งเงินบาท แผนเงินต้องรวมติดตั้ง ตู้ ป้องกัน แบตเปลี่ยน ข้อมูล ค่าแรงและอายุที่ใช้เทียบเท่ากัน UPS ต้องเช็ก W/VA กระแสเริ่มต้นรูปคลื่นและ runtime curve ตัวอย่าง 469 Wh ไม่รวม aging/อุณหภูมิหรือ safety margin และต่างจากแบตจำลอง 1.2 kWh ในฉาก NECTEC Bubble FiT ปี 2560 เน้น DO/ควบคุมเติมอากาศ และ Aqua-IoT ปี 2563 เน้นติดตามสภาพบ่อ ไม่ใช่หลักฐานว่าทีมแปลกใหม่กว่า/ถูกกว่า หรือระบบเหล่านี้ติดตั้งที่ศาลาหุมปัจจุบัน ราคาที่ตรวจหน้า Advice 15 ต.ค. 2569: UPS 1000VA ADVICE SMART LCD แสดง 1,750 บาทเฉพาะออนไลน์ พิกัด 500 W เป็นเพียงราคาเครื่องตัวอย่าง ไม่ใช่รุ่นที่เลือก ไม่ยืนยันสำรอง 150 W ได้นานสองชั่วโมง และไม่รวมระบบวัด ตู้ การติดตั้งหรือแบตเปลี่ยน ต้องตรวจราคาและโหลดอีกครั้ง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ถ้า UPS ที่มีขายแก้ได้แล้วล่ะ</a:t>
            </a:r>
          </a:p>
          <a:p xmlns:a="http://schemas.openxmlformats.org/drawingml/2006/main">
            <a:r>
              <a:t>คำตอบ: ควรเลือก UPS หากเหมาะและคุ้มกว่า PowerGuard ช่วยเก็บหลักฐานและติดตามผล ไม่จำเป็นต้องสร้างฮาร์ดแวร์ใหม่ทุกครั้ง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https://www.pea.co.th/contact-us</a:t>
            </a:r>
          </a:p>
          <a:p xmlns:a="http://schemas.openxmlformats.org/drawingml/2006/main">
            <a:r>
              <a:t>https://www.se.com/us/en/work/support/product-support/ups-buying-guide-for-selecting-a-battery-backup-system/</a:t>
            </a:r>
          </a:p>
          <a:p xmlns:a="http://schemas.openxmlformats.org/drawingml/2006/main">
            <a:r>
              <a:t>https://www.nectec.or.th/innovation/innovation-hardware-electronics/bubblefit.html</a:t>
            </a:r>
          </a:p>
          <a:p xmlns:a="http://schemas.openxmlformats.org/drawingml/2006/main">
            <a:r>
              <a:t>https://nectec.or.th/news/news-pr-news/aqua-iot-east2020.html</a:t>
            </a:r>
          </a:p>
          <a:p xmlns:a="http://schemas.openxmlformats.org/drawingml/2006/main">
            <a:r>
              <a:t>energy-platform-app/src/lib/powerguard-model.ts</a:t>
            </a:r>
          </a:p>
          <a:p xmlns:a="http://schemas.openxmlformats.org/drawingml/2006/main">
            <a:r>
              <a:t>https://www.advice.co.th/product/ups-/advice/ups-1000va-advice-smart-lcd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เวลา 35 วินาที</a:t>
            </a:r>
          </a:p>
          <a:p xmlns:a="http://schemas.openxmlformats.org/drawingml/2006/main">
            <a:r>
              <a:t>สิ่งที่เราขอคือเริ่มวัดในหนึ่งถึงสองจุดที่ชุมชนยินยอม ขอข้อมูลระบบเดิมที่เปิดให้ใช้ และตกลงคนรับเหตุครับ ทีมจะแบ่งงานตามนี้ วัดความครบถ้วนของหลักฐาน เวลาคงโหลด ต้นทุนตลอดอายุ และผู้ดูแลใช้บันทึกได้ ถ้าข้อมูลไม่พอ ไม่ปลอดภัย หรือทางเลือกอื่นเหมาะกว่า เราจะทบทวนก่อนขยายครับ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ข้อมูลขยายสำหรับซ้อมและตอบคำถาม:</a:t>
            </a:r>
          </a:p>
          <a:p xmlns:a="http://schemas.openxmlformats.org/drawingml/2006/main">
            <a:r>
              <a:t>ยังไม่มีชื่อผู้ประสานงานท้องถิ่นหรือพันธมิตรที่ตกลงร่วมแล้ว ค่าเป้าหมาย KPI และระยะ baseline ต้องตกลงก่อนเริ่ม ไม่อ้างผลสำเร็จล่วงหน้า นายรับโจทย์/การตัดสินใจ โฟล์ครับความปลอดภัย/โหลด พีรับ event/KPI บอสรับการสื่อสารและผู้รับเหตุ ข้าวฟ่างรับแหล่งอ้างอิงและ validation ด้าน ESG วัดพลังงาน/ขยะแบต ภาระผู้ดูแล และการยินยอมใช้ข้อมูล ไม่อ้างลดคาร์บอน/เพิ่มรายได้ เกณฑ์ซ้อมทั้งห้าข้อเป็นสมมติสำหรับเตรียม pitch ไม่ใช่ rubric ทางการ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คำถามกรรมการ: เมื่อไรควรขยาย</a:t>
            </a:r>
          </a:p>
          <a:p xmlns:a="http://schemas.openxmlformats.org/drawingml/2006/main">
            <a:r>
              <a:t>คำตอบ: เมื่อมีคนดูแล ข้อมูลและต้นทุนเปรียบเทียบชัด ผ่านความปลอดภัยและผลทดลองตามเกณฑ์ร่วม ถ้าไม่ผ่านให้หยุดหรือปรับแบบ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แหล่งอ้างอิง:</a:t>
            </a:r>
          </a:p>
          <a:p xmlns:a="http://schemas.openxmlformats.org/drawingml/2006/main">
            <a:r>
              <a:t>deliverables/research/missing-evidence-and-field-plan.md</a:t>
            </a:r>
          </a:p>
          <a:p xmlns:a="http://schemas.openxmlformats.org/drawingml/2006/main">
            <a:r>
              <a:t>team-work-summary.pdf หน้า 6–8</a:t>
            </a:r>
          </a:p>
          <a:p xmlns:a="http://schemas.openxmlformats.org/drawingml/2006/main">
            <a:r>
              <a:t>https://peephatz-dev.github.io/community-field-notes/presentation-guide.html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298df38e74474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41131700bd4b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cfcfc97f2b414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02d62a97044e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4a9d85d9bc407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2812820c2943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C4CAB6-55BB-4C6D-AC43-7F99B9CFAC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4D4E411-CDE6-43B6-B2D0-32F783735E4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54D0E38-99F9-49CF-98F9-60E59F1B66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6D6A45-7D66-47BD-AB1B-0EBD43D1F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044CFE4-443B-463D-B2F6-5BBB53F49F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8045E1-9D59-44DA-8687-ECEEF17486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D3C2E2-7834-4AD8-9921-1C706E27D0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B676EA-CEBB-4162-9F9C-D8B675358B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E78900C-E98D-4056-85B8-6B6F29119F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AC56D96-17DC-4B29-B30C-D9812597FB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6e7a53c2c343e0" /><Relationship Type="http://schemas.openxmlformats.org/officeDocument/2006/relationships/slideLayout" Target="/ppt/slideLayouts/slideLayout1.xml" Id="R22e7cd956ec84084" /><Relationship Type="http://schemas.openxmlformats.org/officeDocument/2006/relationships/slideLayout" Target="/ppt/slideLayouts/slideLayout2.xml" Id="R0be70fd922b44417" /><Relationship Type="http://schemas.openxmlformats.org/officeDocument/2006/relationships/slideLayout" Target="/ppt/slideLayouts/slideLayout3.xml" Id="R2f142b68a2d24c6c" /><Relationship Type="http://schemas.openxmlformats.org/officeDocument/2006/relationships/slideLayout" Target="/ppt/slideLayouts/slideLayout4.xml" Id="R25d0782a4f5344a9" /><Relationship Type="http://schemas.openxmlformats.org/officeDocument/2006/relationships/slideLayout" Target="/ppt/slideLayouts/slideLayout5.xml" Id="R19afa91fd6d54c0a" /><Relationship Type="http://schemas.openxmlformats.org/officeDocument/2006/relationships/slideLayout" Target="/ppt/slideLayouts/slideLayout6.xml" Id="Re16e0690fa264d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e7cd956ec84084"/>
    <p:sldLayoutId xmlns:r="http://schemas.openxmlformats.org/officeDocument/2006/relationships" id="2147483650" r:id="R0be70fd922b44417"/>
    <p:sldLayoutId xmlns:r="http://schemas.openxmlformats.org/officeDocument/2006/relationships" id="2147483651" r:id="R2f142b68a2d24c6c"/>
    <p:sldLayoutId xmlns:r="http://schemas.openxmlformats.org/officeDocument/2006/relationships" id="2147483652" r:id="R25d0782a4f5344a9"/>
    <p:sldLayoutId xmlns:r="http://schemas.openxmlformats.org/officeDocument/2006/relationships" id="2147483653" r:id="R19afa91fd6d54c0a"/>
    <p:sldLayoutId xmlns:r="http://schemas.openxmlformats.org/officeDocument/2006/relationships" id="2147483654" r:id="Re16e0690fa264d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23a41618c14d27" /><Relationship Type="http://schemas.openxmlformats.org/officeDocument/2006/relationships/image" Target="/ppt/media/image.png" Id="R7af8d77b95044e22" /><Relationship Type="http://schemas.openxmlformats.org/officeDocument/2006/relationships/image" Target="/ppt/media/image2.png" Id="Rb54735e37f6247ef" /><Relationship Type="http://schemas.openxmlformats.org/officeDocument/2006/relationships/notesSlide" Target="/ppt/notesSlides/notesSlide1.xml" Id="Reb097259c4f441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9c94b950444032" /><Relationship Type="http://schemas.openxmlformats.org/officeDocument/2006/relationships/image" Target="/ppt/media/image3.png" Id="Re387713e7b7d42ed" /><Relationship Type="http://schemas.openxmlformats.org/officeDocument/2006/relationships/notesSlide" Target="/ppt/notesSlides/notesSlide2.xml" Id="R3b971d59b67849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0fa3060b7b44df" /><Relationship Type="http://schemas.openxmlformats.org/officeDocument/2006/relationships/notesSlide" Target="/ppt/notesSlides/notesSlide3.xml" Id="Rae572c3e223c45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8557edca374d2b" /><Relationship Type="http://schemas.openxmlformats.org/officeDocument/2006/relationships/notesSlide" Target="/ppt/notesSlides/notesSlide4.xml" Id="R9a6062afdf2e4f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a9c22ffcf84d2f" /><Relationship Type="http://schemas.openxmlformats.org/officeDocument/2006/relationships/image" Target="/ppt/media/image4.png" Id="R5c9c29440bb44338" /><Relationship Type="http://schemas.openxmlformats.org/officeDocument/2006/relationships/notesSlide" Target="/ppt/notesSlides/notesSlide5.xml" Id="Re2e8c622077e45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e222ad2d3249e8" /><Relationship Type="http://schemas.openxmlformats.org/officeDocument/2006/relationships/image" Target="/ppt/media/image5.png" Id="Recc2e254fb9c4e1d" /><Relationship Type="http://schemas.openxmlformats.org/officeDocument/2006/relationships/notesSlide" Target="/ppt/notesSlides/notesSlide6.xml" Id="Raa8eac066ecc4b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9b504ecb3b4ff8" /><Relationship Type="http://schemas.openxmlformats.org/officeDocument/2006/relationships/image" Target="/ppt/media/image6.png" Id="R6776ccac979944af" /><Relationship Type="http://schemas.openxmlformats.org/officeDocument/2006/relationships/image" Target="/ppt/media/image7.png" Id="R8bc9013d75894acf" /><Relationship Type="http://schemas.openxmlformats.org/officeDocument/2006/relationships/hyperlink" Target="https://peephatz-dev.github.io/community-field-notes/energy-platform/" TargetMode="External" Id="R9837225d97b04f5b" /><Relationship Type="http://schemas.openxmlformats.org/officeDocument/2006/relationships/notesSlide" Target="/ppt/notesSlides/notesSlide7.xml" Id="R7a361fb1ae0f4d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e9e748849e4dd3" /><Relationship Type="http://schemas.openxmlformats.org/officeDocument/2006/relationships/notesSlide" Target="/ppt/notesSlides/notesSlide8.xml" Id="R144d6546f2ed4c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bce9ead724829" /><Relationship Type="http://schemas.openxmlformats.org/officeDocument/2006/relationships/notesSlide" Target="/ppt/notesSlides/notesSlide9.xml" Id="R7c1b495d0cf145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d9124fc8964884" /><Relationship Type="http://schemas.openxmlformats.org/officeDocument/2006/relationships/notesSlide" Target="/ppt/notesSlides/notesSlide10.xml" Id="R3ef1d154007045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92672-4D30-47FB-BF5F-A7BED1D0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SALA HUM POWERGUARD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233F7-3802-451B-8E75-B1831E14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ระบบดูแลไฟฟ้าชุมชน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F80C1-3934-442E-B7E6-1C9C9A37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CAD42-1721-4BC3-A804-1C5B2AD7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E01 / E04 / E09  Data Pack ภาคใต้ 16 ก.ค. 2569 น.6 และเอกสารทีม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B553A-BEE0-44B5-A7CB-29F82468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01 / 10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72FDD-6C4F-476B-897E-5021C089E4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f8d77b95044e22"/>
          <a:srcRect xmlns:a="http://schemas.openxmlformats.org/drawingml/2006/main" l="0" t="3548" r="0" b="3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53100" y="1562100"/>
            <a:ext cx="5905500" cy="41148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21C74-BE1E-4AC3-9D79-7A1C215C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2152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06ADE-8387-4535-BC0C-696CC8F3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1962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ต้นแบบเว็บไซต์จำลอง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33962-77DC-48E2-86A8-977185FB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19325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70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บ้านศาลาหุม</a:t>
            </a:r>
          </a:p>
          <a:p xmlns:a="http://schemas.openxmlformats.org/drawingml/2006/main">
            <a:pPr algn="l">
              <a:defRPr sz="27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70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ชุมชนประมงกระชัง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B9340-FB2D-4A9F-A536-2F55D4C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4095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4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เริ่มตรวจไฟจริง</a:t>
            </a:r>
          </a:p>
          <a:p xmlns:a="http://schemas.openxmlformats.org/drawingml/2006/main">
            <a:pPr algn="l">
              <a:defRPr sz="24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4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เลือกวิธีแก้ที่คุ้ม</a:t>
            </a:r>
          </a:p>
          <a:p xmlns:a="http://schemas.openxmlformats.org/drawingml/2006/main">
            <a:pPr algn="l">
              <a:defRPr sz="24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4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แล้วติดตามผล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B139B-EC1B-4BCD-B042-84C2027097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735e37f6247ef"/>
          <a:stretch xmlns:a="http://schemas.openxmlformats.org/drawingml/2006/main"/>
        </p:blipFill>
        <p:spPr>
          <a:xfrm xmlns:a="http://schemas.openxmlformats.org/drawingml/2006/main">
            <a:off x="3905250" y="4238625"/>
            <a:ext cx="1571625" cy="15716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9C580B-0EEC-42B8-8C4C-498284EE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53025"/>
            <a:ext cx="457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ไฟฟ้าไม่เสถียรตามรายงานพื้นที่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ยังไม่มีหลักฐานติดตั้งฮาร์ดแวร์ของทีม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9E7C12-A7DB-4F3A-B1FE-2172A92A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5762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2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ภาพจากแพ็กชุมชน  วันถ่ายไม่ระบุ  ใช้แสดงบริบทกระชัง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FAB63-08E0-43C5-9C62-5C576657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436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35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นาย  โฟล์ค  พี  บอส  ข้าวฟ่าง</a:t>
            </a:r>
          </a:p>
        </p:txBody>
      </p:sp>
    </p:spTree>
    <p:extLst>
      <p:ext uri="{BB962C8B-B14F-4D97-AF65-F5344CB8AC3E}">
        <p14:creationId xmlns:p14="http://schemas.microsoft.com/office/powerpoint/2010/main" val="19607903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6EF56B-D3FC-4B3C-91A2-4A946870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ไฟไม่เสถียรตามรายงานพื้นที่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17B93C-5179-4490-B87A-61B7DFB1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ผลต่ออุปกรณ์และความเสียหายยังต้องตรวจวัด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A591B-1D01-4A9A-AAC2-56323B52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7CA40-C04D-499B-B5B8-52F7BED0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E01–E03  Data Pack ภาคใต้ น.1, 3–7  ตัวเลขในเอกสาร ไม่ใช่สำมะโนล่าสุด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2FC06-9E98-4CA4-BD68-69EF36CD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02 / 10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1B6D5-8ED5-46DE-94B1-D0BB4FB128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7713e7b7d42ed"/>
          <a:srcRect xmlns:a="http://schemas.openxmlformats.org/drawingml/2006/main" l="0" t="6183" r="0" b="6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685925"/>
            <a:ext cx="4724400" cy="3105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E7183-AB5D-4672-B450-193443B2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8632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2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เรือและกระชังในภาพจาก Data Pack  วันถ่ายไม่ระบุ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ECA59-6FCF-41DC-B51E-1F79F18B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4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50–70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26ADB-B9F5-4B84-9DD1-2801E2B7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4384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ครัวเรือนโดยประมาณ</a:t>
            </a:r>
          </a:p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ตามเอกสารหน้า 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120211-3FFA-4257-85A6-6E2200ED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66875"/>
            <a:ext cx="247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4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&gt;45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4B0BE8-52A8-4666-A530-830020C7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กระชังที่ผู้ให้ข้อมูล</a:t>
            </a:r>
          </a:p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เชื่อมโยงในเอกสารหน้า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4A545-6CBC-4A97-BA7D-B42A6D4C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419475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10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คนที่ต้องร่วมระบุโหลด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5355D-764F-41EB-8216-8EE65762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876675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ผู้เลี้ยงปลา  ครัวเรือน  ผู้ดูแลระบบเดิม</a:t>
            </a:r>
          </a:p>
          <a:p xmlns:a="http://schemas.openxmlformats.org/drawingml/2006/main">
            <a:pPr algn="l">
              <a:defRPr sz="18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ยังไม่ทราบว่าใครและเครื่องใดต้องสำรองไฟ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4B0BC-E9D0-484E-B5A3-940F70A8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14950"/>
            <a:ext cx="36195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1EDFCC-901E-453F-A9A1-F7765407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333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65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มีรายงาน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4FC017-3BA2-4DA7-B782-F94EF9A3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357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57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ไฟตก / โซลาร์บางบ้านไม่พอ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B93F4-A3D6-4162-8AE6-500934AC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4950"/>
            <a:ext cx="36195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C27FA-8DBA-41AF-B21C-790D5C6C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410200"/>
            <a:ext cx="333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65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ต้องวัดเพิ่ม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45C4B-AF68-4540-9689-37C1BBBB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74357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57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แรงดัน ความถี่ ระยะเวลา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1727EE-68AA-4DEF-AC87-11585043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14950"/>
            <a:ext cx="36195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C28461-F2E1-4DE0-B6DF-27617FE5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10200"/>
            <a:ext cx="3333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65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ต้องยืนยัน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5A3940-4C31-4D56-8B3B-BA99E8A5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43575"/>
            <a:ext cx="3333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57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เครื่องที่หยุด ภาระดูแล งบที่จ่ายไหว</a:t>
            </a:r>
          </a:p>
        </p:txBody>
      </p:sp>
    </p:spTree>
    <p:extLst>
      <p:ext uri="{BB962C8B-B14F-4D97-AF65-F5344CB8AC3E}">
        <p14:creationId xmlns:p14="http://schemas.microsoft.com/office/powerpoint/2010/main" val="799426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BB00BD-25D2-40B1-934A-9DA490A94882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7743825" y="5305425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7DD3"/>
            </a:solidFill>
            <a:prstDash val="solid"/>
            <a:tailEnd type="arrow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991866-0D8E-4767-8664-A7D76EDA2357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819525" y="5305425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7DD3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F0400C-887A-4330-8D26-20ADA0FA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วิธีรับเหตุเดิมยังต้องถามคนใช้งาน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06192-E3CF-4F9E-986B-7999B76E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การสัมภาษณ์และบันทึกไฟช่วยเลือกทางแก้ได้ตรงจุด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F8645-0BC4-4D60-8927-2B5340CF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996DD-DE7C-4533-A7CA-1F74585A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E01 / E04  ไกด์ทีม #decision-board และ Data Pack น.6  ขั้นตอนเดิมยังไม่มี field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7590B-A34D-4440-BDB0-BDA31958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45143-89E6-4C47-9A9E-A26E1B83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5623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0DEE70-9433-47E1-828A-3436E38B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95475"/>
            <a:ext cx="3219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ก่อนเกิดเหตุ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65739-3C0B-4E7F-92DF-E7E0D0CD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32194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เครื่องใดจำเป็นต้องมีไฟ?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ใครเป็นคนดูแล?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C9682-DDD6-48A8-8FDF-8EB323C8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86125"/>
            <a:ext cx="2019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F972E-902D-49BB-A17F-C11221C2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TBD รอสัมภาษณ์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062FB-6E3B-4343-B32D-69F411B9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52600"/>
            <a:ext cx="35623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E3B52-DB39-486A-9E9A-6D520175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1895475"/>
            <a:ext cx="3219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ระหว่างเกิดเหตุ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DC78C-D4F6-47EB-B46D-FB711DD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33625"/>
            <a:ext cx="32194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รู้เหตุเมื่อไร? เครื่องไหนหยุด?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ใครรับแจ้งและทำอะไร?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81E757-162E-44E5-916F-218EF4F5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286125"/>
            <a:ext cx="2019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1CCF17-2FDC-4D91-A7A4-75C8C955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1470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TBD รอสัมภาษณ์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346698-1685-4B95-BF34-82B0ADF9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35623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1DA1B-F63F-4B39-8FF7-1B364C21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95475"/>
            <a:ext cx="3219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หลังเกิดเหตุ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798FD7-3607-42E6-BE1D-BE785CF6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32194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มีหลักฐานอะไรเหลือ?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ซ่อมหรือสำรองไฟคุ้มกว่า?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050A2-7EA7-48D5-A895-A73AF3A3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86125"/>
            <a:ext cx="2019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2DF8A-3319-4DC4-841D-AB0AE5C3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1470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TBD รอสัมภาษณ์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906AA3-A47A-4490-959D-EF613A7B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529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25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วงจรตัดสินใจที่เสนอ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C83A25-53F4-4DF1-860B-256BFA1B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95825"/>
            <a:ext cx="32861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CC2B3-A6BE-4D90-A661-D72650A8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943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วัดหลักฐาน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31470A-A74B-4FD6-A023-E87A5630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76850"/>
            <a:ext cx="29432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ไฟ โหลด เวลา และคุณภาพข้อมูล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45843E-8FB1-4ACD-89F1-19F64BFF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95825"/>
            <a:ext cx="32861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DE0D3-685C-4DCF-B93A-BBF0259C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838700"/>
            <a:ext cx="29432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เลือกวิธีแก้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DCC121-C27B-410C-8710-DDC8E67F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276850"/>
            <a:ext cx="29432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ซ่อม / UPS / ไฟสำรองเฉพาะจุด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87DF00-90A0-4409-845E-5F4BEFEE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95825"/>
            <a:ext cx="32766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7AEE52-4457-4C5C-A0D6-B03FCF27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8387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ตรวจผล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8BF570-A182-4C77-A621-01BB6BDE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276850"/>
            <a:ext cx="2933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เปรียบเทียบกับ baseline เดิม</a:t>
            </a:r>
          </a:p>
        </p:txBody>
      </p:sp>
    </p:spTree>
    <p:extLst>
      <p:ext uri="{BB962C8B-B14F-4D97-AF65-F5344CB8AC3E}">
        <p14:creationId xmlns:p14="http://schemas.microsoft.com/office/powerpoint/2010/main" val="17169439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D717F0-EA1B-441B-BE96-B6C8A72DB879}"/>
              </a:ext>
            </a:extLst>
          </p:cNvPr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7296150" y="5195888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7DD3"/>
            </a:solidFill>
            <a:prstDash val="dash"/>
            <a:tailEnd type="arrow" w="med" len="med"/>
          </a:ln>
        </p:spPr>
      </p:cxn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C617EF-EB86-43CB-AD18-14F42C6F2679}"/>
              </a:ext>
            </a:extLst>
          </p:cNvPr>
          <p:cNvCxnSpPr>
            <a:stCxn xmlns:a="http://schemas.openxmlformats.org/drawingml/2006/main" id="31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3543300" y="5195888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F7DD3"/>
            </a:solidFill>
            <a:prstDash val="dash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1DDFDD-8F53-44DD-938C-98642AD6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พลังงานและข้อมูลมีเส้นทางแยกกัน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EAC211-621D-4035-A17D-C216AB02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โครงสร้าง P0–P3 เป็นข้อเสนอที่ต้องตรวจพิกัดก่อนสร้างจริง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04C8-3C63-4235-9369-A7A45FE9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7E112-71B6-48CB-8DDB-1810457C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E04–E05  เอกสารทีม น.1–5 และ src/lib/model.ts  ลำดับและตัวเลขเป็นนโยบายสาธิต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24229-D99D-4774-9799-53E3E305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04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14B9D-BAB4-4403-B6F4-C35A9231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FBF46-ADEB-44EB-91B2-36A599FA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ทางเดินพลังงาน DC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D4E21-CE12-45D0-A465-41A8D7A2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2571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587F5D-E9BF-4C51-AA11-E22B49E8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4812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ข้อมูลและการแจ้งเตือน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C2702-40AD-4F87-B8BA-80DBEEEB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62175"/>
            <a:ext cx="2190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D8282-4C15-4EE0-B47E-AC8640CB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แหล่งจ่าย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C9A7E-7148-424B-92E8-DA916127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43200"/>
            <a:ext cx="18478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DC / แบตสำรอง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ฟิวส์ + BMS เสนอ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295FD-DA0C-49C2-8DAA-EF5B21B1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3835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A3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584E01-3FE4-4A31-87AB-4C05068A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57425"/>
            <a:ext cx="2000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262342-FDD1-418C-99DD-20F387A4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P0 ศูนย์ไฟ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4CE5E2-DEE8-41BD-B700-1457B8B2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38450"/>
            <a:ext cx="1657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ตัวควบคุม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30 W สมมติ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CB56E5-7B3C-4B40-A238-BF8115B1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03835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A3C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A5EDE6-EFF4-4646-99CA-A8A2ECDB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257425"/>
            <a:ext cx="2000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801DA7-6ED3-470F-8488-573CF7E0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003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P1 กระชัง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5B295A-0737-4F99-A692-21317ED1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838450"/>
            <a:ext cx="1657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มอนิเตอร์ตัวอย่าง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120 W สมมติ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712A1-9A45-4EA6-B0CE-C1B2C4C9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3835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A3C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44F95-D7BC-4063-B526-57058B24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257425"/>
            <a:ext cx="2000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958E36-F1D3-4B29-A890-AD7EB58B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003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2545C9-FDBC-4B77-902A-7E647744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838450"/>
            <a:ext cx="1657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เครื่องจำเป็น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80 W สมมติ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55D59D-E455-46B8-A620-3842FC78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038350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A3C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624E83-F239-4E96-8A24-F3D80071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257425"/>
            <a:ext cx="2000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A8F014-36B4-4193-B9CF-6E7678D5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0300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3F30E6-5A32-4C89-A6FA-616B002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657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เครื่องที่พักได้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260 W สมมติ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A77BFF-A37B-4B12-A044-DDDF0739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792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7A3C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948F18-D66D-457F-930E-5E07DFF1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7A3C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2B7891-B590-45BF-8EDC-EF736236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30099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B8C409-2C00-48A8-AE18-945ADB74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P1–P3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EEA795-DED2-47BF-BA98-5EDDF687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24450"/>
            <a:ext cx="266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ค่าจำลอง + quality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last_seen / สถานะโหลด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05B261-A0BE-453D-BC25-5074059C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43425"/>
            <a:ext cx="30099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965B0C-9050-4001-86FD-1C69BC57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863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P0 รวมเหตุ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36C208-F12C-407F-A7CA-6607F9E0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124450"/>
            <a:ext cx="266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จำแนกไฟ / offline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คงลำดับความสำคัญ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E4CC11-B514-4446-BF7D-2771DD67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43425"/>
            <a:ext cx="36195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6A6500-006C-42BB-AAF2-D24BAF59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863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Dashboard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BE0922-37E7-4564-BF10-42880BBB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32766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คนรับแจ้ง / ประวัติ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ยืนยันหน้างานก่อนทำต่อ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531E1E-5E51-43B7-9455-3868E65F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657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95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P0 &gt; P1 &gt; P2 &gt; P3  ตามแบบจำลอง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04B474-781E-4823-AEC7-94D13DB9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43325"/>
            <a:ext cx="821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73040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B73040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B73040"/>
                </a:solidFill>
                <a:latin typeface="Sarabun"/>
                <a:ea typeface="Sarabun"/>
                <a:cs typeface="Sarabun"/>
              </a:rPr>
              <a:t>ตัวควบคุมสั่ง driver แรงดันต่ำ  ยังไม่มีการสั่งตัดไฟบ้านจริง</a:t>
            </a:r>
          </a:p>
        </p:txBody>
      </p:sp>
    </p:spTree>
    <p:extLst>
      <p:ext uri="{BB962C8B-B14F-4D97-AF65-F5344CB8AC3E}">
        <p14:creationId xmlns:p14="http://schemas.microsoft.com/office/powerpoint/2010/main" val="11226923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8E295A-5C2F-4E97-9BE2-2EC62C7E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เหตุไฟดับและการรับแจ้ง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46689-1EAC-4D5E-849E-EAA1A2F9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ทุกสถานะในเดโมมาจากตัวจำลองชุดเดียวกัน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02486-2651-4B9F-9E58-A172ECA5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B421F-85F0-490C-AC95-BBCE1D8F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E05–E08  simulator.ts / powerguard-model.ts และ screenshot จริง 15 ต.ค. 2569  ข้อมูลจำลอง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BFA78-8415-434E-AC37-92CAB6BE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31D47-9036-4D09-8D3A-6B531256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C4D47-4BEF-4F9A-A1E9-F7CB69CD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8F7705-297C-4FC1-9D02-6EBEC573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ไฟตก / ดับ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07AC3-DC90-45B9-AE69-C1132F64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193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369F2-EEAE-4522-B8FC-0B3F56DC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3432D-B693-4D14-9E59-DCD70315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87336-F11E-44A5-B762-4E3C0D0D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เก็บหลักฐาน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2326D-3443-4DB3-9DBE-A2086460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193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98487-F01E-4CB2-A6AA-06F7E3DF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7415E-26F1-4E1F-84E8-FC1D441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EF10DB-6B73-414B-BF3E-ACC03A09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วิเคราะห์เหตุ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7CAE0A-6FE5-4465-BCA3-D4B6FF57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193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04F38F-B33F-489A-A708-B487A1BF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1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396E00-F0B2-4A69-8718-DFA809BA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B6C6-C0A4-460B-AE4E-7C4F0A19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ใช้ไฟสำรอง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F6157C-D502-489B-BE44-72727407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193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A191AA-E4E2-4AE4-9E53-C84205E0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6967BF-5339-4801-9A74-8721F176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A6A38D-9FB2-483A-BE95-DAEF87AE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พักโหลด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68D461-7C45-4110-9AD2-1A73C514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193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434AA7-F90A-4D3C-94F5-F70E6D4D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33268D-2486-4584-84A0-6FC6AED5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0BA7B8-213E-4BFB-9FC6-7CE4437D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แจ้งเตือน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D0C3B0-B675-4892-8676-79E7A4AD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19325"/>
            <a:ext cx="11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5E9B88-3552-4B45-ABE8-9378549C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714500"/>
            <a:ext cx="14859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F8CC85-C5FD-49A1-8E35-ED6F59F3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819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1500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125DFF-43D1-4EF0-9F91-0C664186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238375"/>
            <a:ext cx="1276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7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คืนระบบ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7A7BD4-B681-465B-8562-6129E6548D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29440bb44338"/>
          <a:stretch xmlns:a="http://schemas.openxmlformats.org/drawingml/2006/main"/>
        </p:blipFill>
        <p:spPr>
          <a:xfrm xmlns:a="http://schemas.openxmlformats.org/drawingml/2006/main">
            <a:off x="533400" y="3432347"/>
            <a:ext cx="5095875" cy="1707807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8618CF-D594-42ED-A0D6-2FAAE584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F6567E-F745-443A-ACD0-74DE83A4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ภาพจากเว็บจริง / ค่าจำลอง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6D90B2-AB14-4570-828E-20B31251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52775"/>
            <a:ext cx="5562600" cy="1819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97DE2F-7667-4A9E-BA5C-94D43633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95650"/>
            <a:ext cx="521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โหนดไม่ส่งข้อมูล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6428EB-4F89-4381-9B31-C1C786EF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52197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ตรวจ last_seen / quality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ตรวจว่าเครื่องยังมีไฟหรือไม่</a:t>
            </a:r>
          </a:p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เปิดดูเหตุและให้คนรับทราบ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32DC6-EAFF-4F6D-87C3-2F997BD1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81600"/>
            <a:ext cx="55626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Offline อย่างเดียวไม่ยืนยันไฟดับ</a:t>
            </a:r>
          </a:p>
          <a:p xmlns:a="http://schemas.openxmlformats.org/drawingml/2006/main">
            <a:pPr algn="l">
              <a:defRPr sz="1800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ไฟกลับคืน P0/P1 ก่อน ตามด้วย P2/P3 เมื่อเวลาเดิน</a:t>
            </a:r>
          </a:p>
        </p:txBody>
      </p:sp>
    </p:spTree>
    <p:extLst>
      <p:ext uri="{BB962C8B-B14F-4D97-AF65-F5344CB8AC3E}">
        <p14:creationId xmlns:p14="http://schemas.microsoft.com/office/powerpoint/2010/main" val="10257518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A34066-ED36-4254-B0CD-FCCE7792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วงจรและข้อมูลที่ต้องพิสูจน์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41E3F-7A8E-4F7A-B86E-651C1233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เว็บแสดงแนวคิด DC  ฮาร์ดแวร์และ gateway ยังเป็นแผนพัฒนา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1CB8F-97F5-4C03-9F57-3E2F9E15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CDA0F-DC1E-4A1F-B393-29D98422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E04–E07  เอกสารทีม / circuit.ts / model.ts  schema ตัวอย่าง ไม่ใช่ telemetry สด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8989A-C62D-49B2-ABB9-BEA5D684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06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EFAD3-C654-45E6-B717-1FF17A8509A0}"/>
              </a:ext>
            </a:extLst>
          </p:cNvPr>
          <p:cNvGraphicFramePr/>
          <p:nvPr/>
        </p:nvGraphicFramePr>
        <p:xfrm>
          <a:off xmlns:a="http://schemas.openxmlformats.org/drawingml/2006/main" x="533400" y="1676400"/>
          <a:ext xmlns:a="http://schemas.openxmlformats.org/drawingml/2006/main" cx="600075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333875"/>
              </a:tblGrid>
              <a:tr h="49530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ประเภทข้อมูล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แผนฮาร์ดแวร์ / สถานะตอนนี้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</a:tr>
              <a:tr h="6286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วัดตรง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แรงดัน กระแส อุณหภูมิ / เว็บใช้ค่าจำลอง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คำนวณ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SoC และเวลาสำรอง / ต้องเทียบค่าจริง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</a:tr>
              <a:tr h="6286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ยังวัดไม่ได้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DO ไม่มี sensor  ห้ามแจ้งภัยจาก DO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036C9-2B4F-4286-A5A9-B10E8904BD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c2e254fb9c4e1d"/>
          <a:stretch xmlns:a="http://schemas.openxmlformats.org/drawingml/2006/main"/>
        </p:blipFill>
        <p:spPr>
          <a:xfrm xmlns:a="http://schemas.openxmlformats.org/drawingml/2006/main">
            <a:off x="7144816" y="1676400"/>
            <a:ext cx="4226969" cy="3181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97908-9BCF-47BB-A6CC-E854F0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43475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2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ภาพห้องวงจรที่รันจริง  ชิ้นส่วนเป็น reference concept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9DFCB-EDCB-4330-878A-06023F0A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6000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9422E-C083-49EF-A95B-5DC2C497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5657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Payload ที่เสนอ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66F25-FB37-411C-A516-4419FE3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29175"/>
            <a:ext cx="5619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node_id, seq, timestamp, source_voltage,</a:t>
            </a:r>
          </a:p>
          <a:p xmlns:a="http://schemas.openxmlformats.org/drawingml/2006/main">
            <a:pPr algn="l">
              <a:defRPr sz="165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battery_soc, load_state, last_seen, quality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E84A0-EF70-48AE-B3BA-5B704F0A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43550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5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edge / gateway / transport ต้องเลือกและทดสอบจริง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D6C5F-8724-4A36-9E34-84D7077C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81625"/>
            <a:ext cx="48006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73040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B73040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B73040"/>
                </a:solidFill>
                <a:latin typeface="Sarabun"/>
                <a:ea typeface="Sarabun"/>
                <a:cs typeface="Sarabun"/>
              </a:rPr>
              <a:t>ฟิวส์ BMS พิกัด สาย ตู้ และ isolation ต้องผ่านผู้มีคุณสมบัติ</a:t>
            </a:r>
          </a:p>
          <a:p xmlns:a="http://schemas.openxmlformats.org/drawingml/2006/main">
            <a:pPr algn="l">
              <a:defRPr sz="1650" b="0">
                <a:solidFill>
                  <a:srgbClr val="B73040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B73040"/>
                </a:solidFill>
                <a:latin typeface="Sarabun"/>
                <a:ea typeface="Sarabun"/>
                <a:cs typeface="Sarabun"/>
              </a:rPr>
              <a:t>GPIO ไม่ขับโหลดโดยตรง  เว็บยังไม่สั่ง mains จริง</a:t>
            </a:r>
          </a:p>
        </p:txBody>
      </p:sp>
    </p:spTree>
    <p:extLst>
      <p:ext uri="{BB962C8B-B14F-4D97-AF65-F5344CB8AC3E}">
        <p14:creationId xmlns:p14="http://schemas.microsoft.com/office/powerpoint/2010/main" val="3395440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441AC0-571F-4A9C-B9A3-37E35DBF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ต้นแบบที่กดทดลองได้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D0987-4FDF-45F1-ACB1-6F311856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เลือกอุปกรณ์ ลองไฟดับ แล้วอ่านเหตุและไฟสำรอง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B0896-EE31-4C89-A717-49A63DE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084703-3F18-4A47-BE28-F4B82790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E08–E09  ภาพระบบ production export บน localhost 15 ต.ค. 2569  ฉากสร้างตามภาพอ้างอิงและค่าจำลอง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5AA38-0B0D-4D3F-BFD3-5390AEC8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07 / 10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334AA-34D4-4E36-9500-2CF0E25BC4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6ccac979944af"/>
          <a:stretch xmlns:a="http://schemas.openxmlformats.org/drawingml/2006/main"/>
        </p:blipFill>
        <p:spPr>
          <a:xfrm xmlns:a="http://schemas.openxmlformats.org/drawingml/2006/main">
            <a:off x="1214120" y="1581150"/>
            <a:ext cx="6334760" cy="44196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FE8C7-1412-4980-B62F-5D9BF4DAA8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9013d75894acf"/>
          <a:stretch xmlns:a="http://schemas.openxmlformats.org/drawingml/2006/main"/>
        </p:blipFill>
        <p:spPr>
          <a:xfrm xmlns:a="http://schemas.openxmlformats.org/drawingml/2006/main">
            <a:off x="9301499" y="1581150"/>
            <a:ext cx="1570951" cy="24669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FFA80-B87D-4844-988E-3331D918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81475"/>
            <a:ext cx="1638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64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5D2539-9CF3-44BE-A1A8-A46A4E0E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210050"/>
            <a:ext cx="144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2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ข้อมูลทดลอง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E813F-67F5-49ED-9D76-F6D32F6C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7639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>
                <a:hlinkClick xmlns:r="http://schemas.openxmlformats.org/officeDocument/2006/relationships" r:id="R9837225d97b04f5b"/>
              </a:rPr>
              <a:t>peephatz-dev.github.io/community-field-notes/energy-platform/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3AC5D-1209-4A0B-9B3D-C86E2B79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038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2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URL: รุ่นเผยแพร่ก่อนรอบนี้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B49DA-6356-4B6B-A0D3-A3C993EC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38675"/>
            <a:ext cx="314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เดโม 45 วินาที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F0500-5112-499F-997B-276C66D7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57775"/>
            <a:ext cx="31432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เลือกจุดกระชัง</a:t>
            </a:r>
          </a:p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ลองไฟตก / ไฟดับ</a:t>
            </a:r>
          </a:p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เปิดแจ้งเตือนและคืนไฟ</a:t>
            </a:r>
          </a:p>
        </p:txBody>
      </p:sp>
    </p:spTree>
    <p:extLst>
      <p:ext uri="{BB962C8B-B14F-4D97-AF65-F5344CB8AC3E}">
        <p14:creationId xmlns:p14="http://schemas.microsoft.com/office/powerpoint/2010/main" val="9188897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EAD0E-878E-4D62-89A8-52D221CA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ความพร้อมที่พิสูจน์ได้วันนี้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F9606-41C4-4DFC-B35E-8E521F05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ระดับแนวคิด / วิเคราะห์ พร้อมต้นแบบเว็บจำลอง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69D6A-ADFC-456D-B564-2DC34AAE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0739C-B176-43BC-A8D7-C3A9DA6B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E06–E08 / E15  test/*.test.mjs และ deliverables/web-ui/screenshots  ตรวจ 15 ต.ค. 2569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AE712-52DD-4D9A-8067-03E9FD8E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08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3F5DC-AC5B-40B6-8DA0-2C36085A77C9}"/>
              </a:ext>
            </a:extLst>
          </p:cNvPr>
          <p:cNvGraphicFramePr/>
          <p:nvPr/>
        </p:nvGraphicFramePr>
        <p:xfrm>
          <a:off xmlns:a="http://schemas.openxmlformats.org/drawingml/2006/main" x="533400" y="1676400"/>
          <a:ext xmlns:a="http://schemas.openxmlformats.org/drawingml/2006/main" cx="111252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57450"/>
                <a:gridCol w="2667000"/>
                <a:gridCol w="2619375"/>
                <a:gridCol w="3381375"/>
              </a:tblGrid>
              <a:tr h="49530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เรื่อง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ทำได้ในเว็บ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ฮาร์ดแวร์จริง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ก่อนติดตั้ง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</a:tr>
              <a:tr h="6667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พื้นที่ / เลือกจุด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PASS ภาพหน้าจอ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ยังไม่มีหลักฐาน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สำรวจตำแหน่งและสิทธิ์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ไฟดับ / แบต / โหลด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PASS automated tests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ยังไม่มีหลักฐาน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bench + runtime test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</a:tr>
              <a:tr h="6667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แจ้งเตือน / ประวัติ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PASS UI + tests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ยังไม่มีหลักฐาน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ทดสอบรับเหตุ / offline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วงจร / ข้อมูล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แนวคิด DC และ schema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ยังไม่มีหลักฐาน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BOM / rating / สอบเทียบ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1AEAA-B3FD-4096-AD5F-9446D1BE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111252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B6784F-37D1-4C3E-8C67-6BCFDD0B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2F7DD3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2F7DD3"/>
                </a:solidFill>
                <a:latin typeface="Sarabun"/>
                <a:ea typeface="Sarabun"/>
                <a:cs typeface="Sarabun"/>
              </a:rPr>
              <a:t>52 / 52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49411-D95C-4571-AB89-7E2EAEAF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29225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แบบทดสอบซอฟต์แวร์ผ่าน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CF5EC-1F9B-412E-889B-1F15FD7A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57850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7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หลักฐานนี้ยังไม่ใช่ผลทดลองกับกลุ่มตัวอย่างหรือการติดตั้งในชุมชน</a:t>
            </a:r>
          </a:p>
        </p:txBody>
      </p:sp>
    </p:spTree>
    <p:extLst>
      <p:ext uri="{BB962C8B-B14F-4D97-AF65-F5344CB8AC3E}">
        <p14:creationId xmlns:p14="http://schemas.microsoft.com/office/powerpoint/2010/main" val="6544634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FBC8F4-50C9-46ED-A0D8-3055AB7B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ต้นทุนขึ้นกับปัญหาและโหลดจริง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5528C-62E7-4BEC-A1D1-8724AFFC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ความต่างที่เสนอ: มีหลักฐานเลือกวิธีแก้และตรวจผลหลังทำ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749D6-8281-4045-B284-7FD9BE49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92A3D-0D63-42EE-B69C-93DE5C6F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E10–E14 / E18  PEA / Schneider / NECTEC (2560, 2563) / ราคา UPS: Advice 15 ต.ค. 2569  URL ใน notes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1570D-3051-41C6-8A0F-3663FB58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09 / 10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C5B6C-EE15-416D-A873-7BDC82C37EEE}"/>
              </a:ext>
            </a:extLst>
          </p:cNvPr>
          <p:cNvGraphicFramePr/>
          <p:nvPr/>
        </p:nvGraphicFramePr>
        <p:xfrm>
          <a:off xmlns:a="http://schemas.openxmlformats.org/drawingml/2006/main" x="533400" y="1600200"/>
          <a:ext xmlns:a="http://schemas.openxmlformats.org/drawingml/2006/main" cx="1112520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571750"/>
                <a:gridCol w="2524125"/>
                <a:gridCol w="3552825"/>
              </a:tblGrid>
              <a:tr h="495300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ทางเลือก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เงินลงทุน / ดูแล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ชั่วโมงคุ้มครอง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Sarabun"/>
                          <a:ea typeface="Sarabun"/>
                          <a:cs typeface="Sarabun"/>
                        </a:rPr>
                        <a:t>ข้อมูลและความเสี่ยง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T w="9525">
                      <a:solidFill>
                        <a:srgbClr val="C9DCEB"/>
                      </a:solidFill>
                      <a:prstDash val="solid"/>
                    </a:lnT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1F2D5A"/>
                    </a:solidFill>
                  </a:tcPr>
                </a:tc>
              </a:tr>
              <a:tr h="602456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ตรวจระบบกับการไฟฟ้า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TBD / ขอบเขตงาน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ขึ้นกับการแก้เหตุ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บันทึกแรงดัน / ผู้รับผิดชอบ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2456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UPS สำเร็จรูป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1,750* / ดูแล TBD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ตามรุ่นและโหลด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W, VA, runtime / เข้ากันได้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</a:tr>
              <a:tr h="602456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สำรองเฉพาะโหลด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TBD / วงจรและแบต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ตาม Wh ใช้ได้จริง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กระแสเริ่มต้น / ความปลอดภัย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2456"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Solar + Battery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9DCEB"/>
                      </a:solidFill>
                      <a:prstDash val="solid"/>
                    </a:lnL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TBD / ติดตั้งและดูแล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ตามแสงและโหลด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  <a:tc>
                  <a:txBody>
                    <a:bodyPr wrap="square" lIns="95250" tIns="95250" rIns="95250" bIns="952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F2D5A"/>
                          </a:solidFill>
                          <a:latin typeface="Sarabun"/>
                          <a:ea typeface="Sarabun"/>
                          <a:cs typeface="Sarabun"/>
                        </a:rPr>
                        <a:t>พื้นที่ อายุแบต / ความคุ้ม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9DCEB"/>
                      </a:solidFill>
                      <a:prstDash val="solid"/>
                    </a:lnR>
                    <a:lnB w="9525">
                      <a:solidFill>
                        <a:srgbClr val="C9DCEB"/>
                      </a:solidFill>
                      <a:prstDash val="solid"/>
                    </a:lnB>
                    <a:solidFill>
                      <a:srgbClr val="E9F7FC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28F1A-2261-4522-A670-0647D12C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539115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05C6E-0550-4061-8645-08896FB4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504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ตัวอย่างขนาดแบต  ไม่ใช่ราคา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7E470-1AC7-47CD-B607-BD7CAB2D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67325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150 W × 2 h ÷ (0.8 × 0.8) ≈ 469 Wh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47542E-D895-4080-A977-860F4684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0"/>
            <a:ext cx="504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425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สมมติ DoD 80% และประสิทธิภาพ 80%  ยังต้องวัด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3CA97-9D1F-4D33-A889-7625A5E7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62500"/>
            <a:ext cx="542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เทคโนโลยีเดิมที่ต้องเทียบ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65E34-A42D-4B6E-AE00-9435718B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200650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Bubble FiT / Aqua-IoT ทำเรื่องติดตามน้ำ</a:t>
            </a:r>
          </a:p>
          <a:p xmlns:a="http://schemas.openxmlformats.org/drawingml/2006/main">
            <a:pPr algn="l">
              <a:defRPr sz="16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PowerGuard เสนอการวินิจฉัยไฟและลำดับโหลด</a:t>
            </a:r>
          </a:p>
          <a:p xmlns:a="http://schemas.openxmlformats.org/drawingml/2006/main">
            <a:pPr algn="l">
              <a:defRPr sz="16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6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ต้นทุนรวมและผลประหยัดยังรอยืนยัน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E48ED-86C5-4546-8CD3-6AB2B11B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15050"/>
            <a:ext cx="111252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2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*ราคาเครื่อง UPS ตัวอย่างเฉพาะออนไลน์  ยังไม่รวมระบบวัด ตู้ การติดตั้ง และค่าเปลี่ยนแบต  ต้องตรวจราคาอีกครั้ง</a:t>
            </a:r>
          </a:p>
        </p:txBody>
      </p:sp>
    </p:spTree>
    <p:extLst>
      <p:ext uri="{BB962C8B-B14F-4D97-AF65-F5344CB8AC3E}">
        <p14:creationId xmlns:p14="http://schemas.microsoft.com/office/powerpoint/2010/main" val="20205114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4C52FE-69FC-4462-A525-33FAE49C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32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ทดลอง 1–2 จุดก่อนตัดสินใจขยาย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CC0577-FAE3-4697-B9B6-EE85A497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จุดทดลองและผู้ดูแลในชุมชนยังรอข้อตกลง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8BAB4-8064-43FF-BCFA-CD562D31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341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C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4A34A-39C6-4617-8E13-7B0C7598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48425"/>
            <a:ext cx="10239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A82"/>
                </a:solidFill>
                <a:latin typeface="Sarabun"/>
                <a:ea typeface="Sarabun"/>
                <a:cs typeface="Sarabun"/>
              </a:defRPr>
            </a:pPr>
            <a:r>
              <a:rPr sz="1050" b="0">
                <a:solidFill>
                  <a:srgbClr val="536A82"/>
                </a:solidFill>
                <a:latin typeface="Sarabun"/>
                <a:ea typeface="Sarabun"/>
                <a:cs typeface="Sarabun"/>
              </a:rPr>
              <a:t>E04 / E16–E17  แผนเสนอ  เกณฑ์ซ้อม: Problem, Innovation, Feasibility, Impact, Presentation (ไม่ใช่เกณฑ์ทางการ)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565B7-834B-441E-BC5A-FC7D5EBD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6438900"/>
            <a:ext cx="781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r">
              <a:defRPr sz="11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1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0B0D61-AFC5-4ABA-B22C-D5C8971A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57350"/>
            <a:ext cx="17240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192B87-0849-4C5D-AD09-607592AA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สำรวจ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96B64-5D47-491E-AD9B-FCC5CF65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9526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7CE24-D9E5-4CEA-AB8D-FB00168E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57350"/>
            <a:ext cx="17240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FAB7A5-83A2-4069-82D7-34EF44B0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781175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วัด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07BE2-88FC-49B5-8D5A-D6ADCE3E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526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3B68A-664E-4C32-B772-8ABEF73A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57350"/>
            <a:ext cx="17240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EE8E9E-2AB9-40F3-9D3D-D30B05E2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81175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วิเคราะห์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D0A34-2C8E-496D-8EB0-D9C27972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9526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0C3DF-C388-4AAB-ACEF-424356BC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657350"/>
            <a:ext cx="17240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E0D32A-868F-4A24-AAA3-9F0C02A6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781175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ป้องกัน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E34DA9-73EB-4AFD-80B2-4AB856DD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526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37B20A-0FB9-4E83-A466-D63C1975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57350"/>
            <a:ext cx="17240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038E6-2C7E-4C97-8CEC-F848926D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81175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วัดผล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B884DB-CBE2-4A50-859F-1C0DC904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952625"/>
            <a:ext cx="152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7DD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A81A44-AAA0-4098-991A-778B18A0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657350"/>
            <a:ext cx="17240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D5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048215-B98C-478E-BDDD-10178C1D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1781175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ขยาย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5D8DDE-8C80-4D1A-9573-1E8653B9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43175"/>
            <a:ext cx="5267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1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สิ่งที่จะวัดก่อนขยาย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246D6A-71E7-4947-A724-04723A97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19425"/>
            <a:ext cx="52673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ความครบถ้วนหลักฐานเหตุ</a:t>
            </a:r>
          </a:p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นาทีที่คงโหลดสำคัญได้</a:t>
            </a:r>
          </a:p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ต้นทุนตลอดอายุเทียบทางเลือก</a:t>
            </a:r>
          </a:p>
          <a:p xmlns:a="http://schemas.openxmlformats.org/drawingml/2006/main">
            <a:pPr algn="l">
              <a:defRPr sz="1875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ผู้ดูแลอ่านเหตุและบันทึกได้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01CB19-B3BD-40D0-8479-2929293B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43175"/>
            <a:ext cx="5372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2175" b="1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เจ้าของงานและผลส่งมอบ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C991C7-9C10-4299-852B-4A4F7340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9425"/>
            <a:ext cx="537210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นาย  โจทย์ / ต้นทุน / แผนทดลอง</a:t>
            </a:r>
          </a:p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โฟล์ค  โหลด / วงจร / ความปลอดภัย</a:t>
            </a:r>
          </a:p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พี  Dashboard / บันทึกและ KPI</a:t>
            </a:r>
          </a:p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บอส  การส่งข้อมูล / ผู้รับเหตุ</a:t>
            </a:r>
          </a:p>
          <a:p xmlns:a="http://schemas.openxmlformats.org/drawingml/2006/main">
            <a:pPr algn="l">
              <a:defRPr sz="1800" b="0">
                <a:solidFill>
                  <a:srgbClr val="1F2D5A"/>
                </a:solidFill>
                <a:latin typeface="Sarabun"/>
                <a:ea typeface="Sarabun"/>
                <a:cs typeface="Sarabun"/>
              </a:defRPr>
            </a:pPr>
            <a:r>
              <a:rPr sz="1800" b="0">
                <a:solidFill>
                  <a:srgbClr val="1F2D5A"/>
                </a:solidFill>
                <a:latin typeface="Sarabun"/>
                <a:ea typeface="Sarabun"/>
                <a:cs typeface="Sarabun"/>
              </a:rPr>
              <a:t>ข้าวฟ่าง  แหล่งข้อมูล / ยืนยันกับชุมชน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D5A170-049A-4EE8-98AD-F87F114D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1112520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D5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25DDB-8609-401B-9934-99F3AFE4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pPr>
            <a:r>
              <a:rPr sz="2025" b="1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สิ่งที่ขอเพื่อเริ่ม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422810-AB8E-45DB-977A-F7041473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248275"/>
            <a:ext cx="7791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อนุญาตวัดแบบจำกัดจุด  เข้าถึงข้อมูลระบบเดิมที่ยินยอม</a:t>
            </a:r>
          </a:p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Sarabun"/>
                <a:ea typeface="Sarabun"/>
                <a:cs typeface="Sarabun"/>
              </a:defRPr>
            </a:pPr>
            <a:r>
              <a:rPr sz="1875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ระบุผู้ประสานงานและผู้รับเหตุร่วมกัน  ชื่อท้องถิ่นยัง TBD</a:t>
            </a:r>
          </a:p>
        </p:txBody>
      </p:sp>
    </p:spTree>
    <p:extLst>
      <p:ext uri="{BB962C8B-B14F-4D97-AF65-F5344CB8AC3E}">
        <p14:creationId xmlns:p14="http://schemas.microsoft.com/office/powerpoint/2010/main" val="15630617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2026-10-15T04:06:21.5580000Z</dcterms:created>
  <dcterms:modified xsi:type="dcterms:W3CDTF">2026-10-15T04:06:21.5580000Z</dcterms:modified>
</coreProperties>
</file>